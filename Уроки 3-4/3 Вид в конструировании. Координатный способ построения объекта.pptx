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9144000" cy="5143500" type="screen16x9"/>
  <p:notesSz cx="6858000" cy="9144000"/>
  <p:custDataLst>
    <p:tags r:id="rId24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2" d="100"/>
          <a:sy n="142" d="100"/>
        </p:scale>
        <p:origin x="714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76200"/>
            <a:ext cx="8961120" cy="499872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EE9C9-3041-4955-869C-75C3CD188D04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345441" y="2206952"/>
            <a:ext cx="7147931" cy="184785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572652" y="2208476"/>
            <a:ext cx="1190348" cy="1844802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12714" y="2352494"/>
            <a:ext cx="910224" cy="1556766"/>
          </a:xfrm>
          <a:prstGeom prst="rect">
            <a:avLst/>
          </a:prstGeom>
          <a:solidFill>
            <a:schemeClr val="accent3">
              <a:alpha val="70000"/>
            </a:schemeClr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45484" y="2291716"/>
            <a:ext cx="6947845" cy="168401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86826" y="3468951"/>
            <a:ext cx="762000" cy="342900"/>
          </a:xfrm>
        </p:spPr>
        <p:txBody>
          <a:bodyPr/>
          <a:lstStyle>
            <a:lvl1pPr algn="ctr"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77BCFCC-4DD1-4338-98AD-2B0ABAC89CDE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Rectangle 10"/>
          <p:cNvSpPr/>
          <p:nvPr/>
        </p:nvSpPr>
        <p:spPr>
          <a:xfrm>
            <a:off x="541822" y="3419458"/>
            <a:ext cx="6755166" cy="498275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8971" y="2354580"/>
            <a:ext cx="6760868" cy="155829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805" y="3486150"/>
            <a:ext cx="6553200" cy="342900"/>
          </a:xfrm>
        </p:spPr>
        <p:txBody>
          <a:bodyPr>
            <a:normAutofit/>
          </a:bodyPr>
          <a:lstStyle>
            <a:lvl1pPr marL="0" indent="0" algn="ctr">
              <a:buNone/>
              <a:defRPr sz="1800" cap="all" spc="30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4705" y="2420275"/>
            <a:ext cx="6629400" cy="914401"/>
          </a:xfrm>
        </p:spPr>
        <p:txBody>
          <a:bodyPr anchor="b" anchorCtr="0">
            <a:no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EE9C9-3041-4955-869C-75C3CD188D04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BCFCC-4DD1-4338-98AD-2B0ABAC89CD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76200"/>
            <a:ext cx="8961120" cy="499872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EE9C9-3041-4955-869C-75C3CD188D04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13" name="Rectangle 12"/>
          <p:cNvSpPr/>
          <p:nvPr/>
        </p:nvSpPr>
        <p:spPr>
          <a:xfrm>
            <a:off x="451976" y="2209800"/>
            <a:ext cx="8265160" cy="184785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67656" y="2286001"/>
            <a:ext cx="8033800" cy="168401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BCFCC-4DD1-4338-98AD-2B0ABAC89CDE}" type="slidenum">
              <a:rPr lang="ru-RU" smtClean="0"/>
              <a:t>‹#›</a:t>
            </a:fld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6" y="2400300"/>
            <a:ext cx="7696200" cy="971551"/>
          </a:xfrm>
        </p:spPr>
        <p:txBody>
          <a:bodyPr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000" kern="1200" cap="all" baseline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75496" y="3406141"/>
            <a:ext cx="7818120" cy="498275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3455633"/>
            <a:ext cx="7696200" cy="39283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758" y="2343150"/>
            <a:ext cx="7817599" cy="155829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306280"/>
            <a:ext cx="8260672" cy="77957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6128" y="1289303"/>
            <a:ext cx="4038600" cy="330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89303"/>
            <a:ext cx="4038600" cy="330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EE9C9-3041-4955-869C-75C3CD188D04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BCFCC-4DD1-4338-98AD-2B0ABAC89CD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306280"/>
            <a:ext cx="8260672" cy="77957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128" y="1291828"/>
            <a:ext cx="4040188" cy="47982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128" y="1828800"/>
            <a:ext cx="4040188" cy="27658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291828"/>
            <a:ext cx="4041775" cy="47982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28800"/>
            <a:ext cx="4041775" cy="27658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EE9C9-3041-4955-869C-75C3CD188D04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BCFCC-4DD1-4338-98AD-2B0ABAC89CD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EE9C9-3041-4955-869C-75C3CD188D04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BCFCC-4DD1-4338-98AD-2B0ABAC89CD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ounded Rectangle 10"/>
          <p:cNvSpPr/>
          <p:nvPr/>
        </p:nvSpPr>
        <p:spPr>
          <a:xfrm>
            <a:off x="91440" y="76200"/>
            <a:ext cx="8961120" cy="499872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EE9C9-3041-4955-869C-75C3CD188D04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BCFCC-4DD1-4338-98AD-2B0ABAC89CD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ounded Rectangle 11"/>
          <p:cNvSpPr/>
          <p:nvPr/>
        </p:nvSpPr>
        <p:spPr>
          <a:xfrm>
            <a:off x="91440" y="76200"/>
            <a:ext cx="8961120" cy="499872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514350"/>
            <a:ext cx="4572000" cy="39433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EE9C9-3041-4955-869C-75C3CD188D04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BCFCC-4DD1-4338-98AD-2B0ABAC89CDE}" type="slidenum">
              <a:rPr lang="ru-RU" smtClean="0"/>
              <a:t>‹#›</a:t>
            </a:fld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560034" y="1129284"/>
            <a:ext cx="2716566" cy="2642616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6690" y="1231854"/>
            <a:ext cx="2483254" cy="2425746"/>
          </a:xfrm>
          <a:prstGeom prst="rect">
            <a:avLst/>
          </a:prstGeom>
          <a:solidFill>
            <a:srgbClr val="FFFFFF"/>
          </a:solidFill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000" y="2228850"/>
            <a:ext cx="2298634" cy="1314450"/>
          </a:xfrm>
        </p:spPr>
        <p:txBody>
          <a:bodyPr/>
          <a:lstStyle>
            <a:lvl1pPr marL="0" indent="0">
              <a:spcBef>
                <a:spcPts val="4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000" y="1300734"/>
            <a:ext cx="2298634" cy="893715"/>
          </a:xfrm>
        </p:spPr>
        <p:txBody>
          <a:bodyPr anchor="b">
            <a:normAutofit/>
          </a:bodyPr>
          <a:lstStyle>
            <a:lvl1pPr algn="l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91440" y="76200"/>
            <a:ext cx="8961120" cy="499872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5800" y="466078"/>
            <a:ext cx="7772400" cy="3248673"/>
          </a:xfrm>
          <a:solidFill>
            <a:schemeClr val="bg2"/>
          </a:solidFill>
          <a:ln>
            <a:noFill/>
          </a:ln>
          <a:effectLst>
            <a:softEdge rad="1270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EE9C9-3041-4955-869C-75C3CD188D04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BCFCC-4DD1-4338-98AD-2B0ABAC89CDE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Rectangle 9"/>
          <p:cNvSpPr/>
          <p:nvPr/>
        </p:nvSpPr>
        <p:spPr>
          <a:xfrm>
            <a:off x="685800" y="3714750"/>
            <a:ext cx="7772400" cy="10287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2000" y="3771900"/>
            <a:ext cx="7600765" cy="902193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Rectangle 12"/>
          <p:cNvSpPr/>
          <p:nvPr/>
        </p:nvSpPr>
        <p:spPr>
          <a:xfrm>
            <a:off x="914400" y="4229100"/>
            <a:ext cx="7328514" cy="338772"/>
          </a:xfrm>
          <a:prstGeom prst="rect">
            <a:avLst/>
          </a:prstGeom>
          <a:solidFill>
            <a:schemeClr val="accent1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5589" y="3806190"/>
            <a:ext cx="7946136" cy="822960"/>
          </a:xfrm>
          <a:prstGeom prst="rect">
            <a:avLst/>
          </a:prstGeom>
          <a:noFill/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289" y="4242418"/>
            <a:ext cx="7244736" cy="30128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829051"/>
            <a:ext cx="7328514" cy="392282"/>
          </a:xfrm>
        </p:spPr>
        <p:txBody>
          <a:bodyPr anchor="ctr" anchorCtr="0"/>
          <a:lstStyle>
            <a:lvl1pPr algn="ctr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EE9C9-3041-4955-869C-75C3CD188D04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BCFCC-4DD1-4338-98AD-2B0ABAC89CD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61702" y="171450"/>
            <a:ext cx="1859280" cy="4591976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55226" y="263557"/>
            <a:ext cx="1672235" cy="4407763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48578" y="296571"/>
            <a:ext cx="1485531" cy="4341736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85750"/>
            <a:ext cx="6172200" cy="43434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EE9C9-3041-4955-869C-75C3CD188D04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BCFCC-4DD1-4338-98AD-2B0ABAC89CD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ounded Rectangle 6"/>
          <p:cNvSpPr/>
          <p:nvPr/>
        </p:nvSpPr>
        <p:spPr>
          <a:xfrm>
            <a:off x="91440" y="76200"/>
            <a:ext cx="8961120" cy="499872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14451"/>
            <a:ext cx="8229600" cy="32801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995EE9C9-3041-4955-869C-75C3CD188D04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277BCFCC-4DD1-4338-98AD-2B0ABAC89CDE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274320" y="208625"/>
            <a:ext cx="8595360" cy="99441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2863" y="279647"/>
            <a:ext cx="8380520" cy="838940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6128" y="306280"/>
            <a:ext cx="8260672" cy="779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500" kern="1200" cap="all" baseline="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210513" y="3507854"/>
            <a:ext cx="2953776" cy="342900"/>
          </a:xfrm>
        </p:spPr>
        <p:txBody>
          <a:bodyPr>
            <a:normAutofit fontScale="92500" lnSpcReduction="10000"/>
          </a:bodyPr>
          <a:lstStyle/>
          <a:p>
            <a:pPr algn="r"/>
            <a:r>
              <a:rPr lang="ru-RU" dirty="0"/>
              <a:t>5-6 урок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1800" dirty="0"/>
              <a:t>Вид в конструировании. </a:t>
            </a:r>
            <a:r>
              <a:rPr lang="ru-RU" sz="1800"/>
              <a:t>Координатный способ построения объекта. </a:t>
            </a:r>
            <a:endParaRPr lang="ru-RU" sz="1800" dirty="0"/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323528" y="267494"/>
            <a:ext cx="8496944" cy="1152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800" kern="1200" cap="all" spc="30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rgbClr val="333333"/>
                </a:solidFill>
              </a:rPr>
              <a:t>3</a:t>
            </a:r>
            <a:r>
              <a:rPr lang="en-US" dirty="0">
                <a:solidFill>
                  <a:srgbClr val="333333"/>
                </a:solidFill>
              </a:rPr>
              <a:t>d </a:t>
            </a:r>
            <a:r>
              <a:rPr lang="ru-RU" dirty="0">
                <a:solidFill>
                  <a:srgbClr val="333333"/>
                </a:solidFill>
              </a:rPr>
              <a:t>моделирование</a:t>
            </a:r>
          </a:p>
        </p:txBody>
      </p:sp>
      <p:sp>
        <p:nvSpPr>
          <p:cNvPr id="6" name="Подзаголовок 2"/>
          <p:cNvSpPr txBox="1">
            <a:spLocks/>
          </p:cNvSpPr>
          <p:nvPr/>
        </p:nvSpPr>
        <p:spPr>
          <a:xfrm>
            <a:off x="683568" y="3507854"/>
            <a:ext cx="3497147" cy="3429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800" kern="1200" cap="all" spc="30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/>
              <a:t>3 четверть</a:t>
            </a:r>
          </a:p>
        </p:txBody>
      </p:sp>
    </p:spTree>
    <p:extLst>
      <p:ext uri="{BB962C8B-B14F-4D97-AF65-F5344CB8AC3E}">
        <p14:creationId xmlns:p14="http://schemas.microsoft.com/office/powerpoint/2010/main" val="3418008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вида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 marL="114300" indent="0">
              <a:buNone/>
            </a:pPr>
            <a:r>
              <a:rPr lang="ru-RU" b="1" dirty="0"/>
              <a:t>Вид - </a:t>
            </a:r>
            <a:r>
              <a:rPr lang="ru-RU" dirty="0"/>
              <a:t>изображение обращенной к наблюдателю видимой части поверхности предмета.</a:t>
            </a:r>
          </a:p>
          <a:p>
            <a:pPr marL="114300" indent="0">
              <a:buNone/>
            </a:pPr>
            <a:r>
              <a:rPr lang="ru-RU" dirty="0"/>
              <a:t>На видах разрешается показывать невидимую часть поверхности предмета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5256076" y="2211710"/>
            <a:ext cx="3564396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5256076" y="1374810"/>
            <a:ext cx="1836204" cy="5760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5508104" y="1370454"/>
            <a:ext cx="13681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Виды</a:t>
            </a:r>
            <a:endParaRPr lang="ru-RU" sz="3200" dirty="0">
              <a:solidFill>
                <a:schemeClr val="tx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56076" y="2141925"/>
            <a:ext cx="37084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tx2"/>
                </a:solidFill>
              </a:rPr>
              <a:t>Основные</a:t>
            </a: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5256076" y="3001575"/>
            <a:ext cx="3564396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256076" y="2931790"/>
            <a:ext cx="37084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tx2"/>
                </a:solidFill>
              </a:rPr>
              <a:t>Дополнительные</a:t>
            </a: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5256076" y="3793663"/>
            <a:ext cx="3564396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5256076" y="3723878"/>
            <a:ext cx="37084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tx2"/>
                </a:solidFill>
              </a:rPr>
              <a:t>Местные</a:t>
            </a:r>
          </a:p>
        </p:txBody>
      </p:sp>
      <p:cxnSp>
        <p:nvCxnSpPr>
          <p:cNvPr id="15" name="Прямая соединительная линия 14"/>
          <p:cNvCxnSpPr>
            <a:stCxn id="6" idx="1"/>
          </p:cNvCxnSpPr>
          <p:nvPr/>
        </p:nvCxnSpPr>
        <p:spPr>
          <a:xfrm flipH="1">
            <a:off x="4932040" y="1662842"/>
            <a:ext cx="324036" cy="0"/>
          </a:xfrm>
          <a:prstGeom prst="line">
            <a:avLst/>
          </a:prstGeom>
          <a:ln w="76200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932040" y="1662841"/>
            <a:ext cx="0" cy="2382850"/>
          </a:xfrm>
          <a:prstGeom prst="line">
            <a:avLst/>
          </a:prstGeom>
          <a:ln w="76200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 flipH="1">
            <a:off x="4932040" y="2464881"/>
            <a:ext cx="324036" cy="0"/>
          </a:xfrm>
          <a:prstGeom prst="line">
            <a:avLst/>
          </a:prstGeom>
          <a:ln w="76200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 flipH="1">
            <a:off x="4932040" y="3272996"/>
            <a:ext cx="324036" cy="0"/>
          </a:xfrm>
          <a:prstGeom prst="line">
            <a:avLst/>
          </a:prstGeom>
          <a:ln w="76200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 flipH="1">
            <a:off x="4932040" y="4014433"/>
            <a:ext cx="324036" cy="0"/>
          </a:xfrm>
          <a:prstGeom prst="line">
            <a:avLst/>
          </a:prstGeom>
          <a:ln w="76200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5644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вида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1625" y="1275606"/>
            <a:ext cx="4518188" cy="3528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Объект 2"/>
          <p:cNvSpPr>
            <a:spLocks noGrp="1"/>
          </p:cNvSpPr>
          <p:nvPr>
            <p:ph sz="half" idx="1"/>
          </p:nvPr>
        </p:nvSpPr>
        <p:spPr>
          <a:xfrm>
            <a:off x="293025" y="1387024"/>
            <a:ext cx="4038600" cy="3416974"/>
          </a:xfrm>
        </p:spPr>
        <p:txBody>
          <a:bodyPr>
            <a:normAutofit fontScale="92500" lnSpcReduction="10000"/>
          </a:bodyPr>
          <a:lstStyle/>
          <a:p>
            <a:pPr marL="114300" indent="0">
              <a:buNone/>
            </a:pPr>
            <a:r>
              <a:rPr lang="ru-RU" dirty="0"/>
              <a:t>Основным видом называется изображение, полученное при проецировании предмета на шесть граней куба, если изделие поместить внутрь куба</a:t>
            </a:r>
          </a:p>
        </p:txBody>
      </p:sp>
    </p:spTree>
    <p:extLst>
      <p:ext uri="{BB962C8B-B14F-4D97-AF65-F5344CB8AC3E}">
        <p14:creationId xmlns:p14="http://schemas.microsoft.com/office/powerpoint/2010/main" val="704717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вида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1438052"/>
            <a:ext cx="4176464" cy="3077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419622"/>
            <a:ext cx="3669907" cy="309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3220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Проекционная связь видов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372694" y="2505863"/>
            <a:ext cx="1257079" cy="12570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372694" y="2841084"/>
            <a:ext cx="1257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Вид спереди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1115615" y="2505863"/>
            <a:ext cx="1257079" cy="12570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115615" y="2841084"/>
            <a:ext cx="1257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Вид </a:t>
            </a:r>
            <a:br>
              <a:rPr lang="ru-RU" dirty="0"/>
            </a:br>
            <a:r>
              <a:rPr lang="ru-RU" dirty="0"/>
              <a:t>справа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3629774" y="2505863"/>
            <a:ext cx="1257079" cy="12570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3629774" y="2841084"/>
            <a:ext cx="1257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Вид </a:t>
            </a:r>
          </a:p>
          <a:p>
            <a:pPr algn="ctr"/>
            <a:r>
              <a:rPr lang="ru-RU" dirty="0"/>
              <a:t>слева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4886853" y="2505863"/>
            <a:ext cx="1257079" cy="12570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4886853" y="2841084"/>
            <a:ext cx="1257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Вид</a:t>
            </a:r>
          </a:p>
          <a:p>
            <a:pPr algn="ctr"/>
            <a:r>
              <a:rPr lang="ru-RU" dirty="0"/>
              <a:t>сзади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2372694" y="1257977"/>
            <a:ext cx="1257079" cy="12570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/>
          <p:cNvSpPr txBox="1"/>
          <p:nvPr/>
        </p:nvSpPr>
        <p:spPr>
          <a:xfrm>
            <a:off x="2372694" y="1593198"/>
            <a:ext cx="1257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Вид </a:t>
            </a:r>
            <a:br>
              <a:rPr lang="ru-RU" dirty="0"/>
            </a:br>
            <a:r>
              <a:rPr lang="ru-RU" dirty="0"/>
              <a:t>снизу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2372694" y="3762943"/>
            <a:ext cx="1257079" cy="12570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2372694" y="4098164"/>
            <a:ext cx="1257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Вид </a:t>
            </a:r>
          </a:p>
          <a:p>
            <a:pPr algn="ctr"/>
            <a:r>
              <a:rPr lang="ru-RU" dirty="0"/>
              <a:t>сверху</a:t>
            </a:r>
          </a:p>
        </p:txBody>
      </p:sp>
    </p:spTree>
    <p:extLst>
      <p:ext uri="{BB962C8B-B14F-4D97-AF65-F5344CB8AC3E}">
        <p14:creationId xmlns:p14="http://schemas.microsoft.com/office/powerpoint/2010/main" val="3336325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вида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1419622"/>
            <a:ext cx="3669907" cy="309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ru-RU" dirty="0"/>
              <a:t>Изображение предмета на фронтальную плоскость принимается за главный вид изделия</a:t>
            </a:r>
          </a:p>
        </p:txBody>
      </p:sp>
    </p:spTree>
    <p:extLst>
      <p:ext uri="{BB962C8B-B14F-4D97-AF65-F5344CB8AC3E}">
        <p14:creationId xmlns:p14="http://schemas.microsoft.com/office/powerpoint/2010/main" val="2511775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вида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1438052"/>
            <a:ext cx="4176464" cy="3077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323528" y="1438052"/>
            <a:ext cx="4176464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600" b="1" dirty="0">
                <a:solidFill>
                  <a:schemeClr val="tx2"/>
                </a:solidFill>
              </a:rPr>
              <a:t>Главный вид</a:t>
            </a:r>
            <a:r>
              <a:rPr lang="ru-RU" sz="2600" dirty="0">
                <a:solidFill>
                  <a:schemeClr val="tx2"/>
                </a:solidFill>
              </a:rPr>
              <a:t> </a:t>
            </a:r>
          </a:p>
          <a:p>
            <a:r>
              <a:rPr lang="ru-RU" sz="2600" dirty="0">
                <a:solidFill>
                  <a:schemeClr val="tx2"/>
                </a:solidFill>
              </a:rPr>
              <a:t>должен давать наиболее полное представление о строении детали</a:t>
            </a:r>
          </a:p>
        </p:txBody>
      </p:sp>
      <p:sp>
        <p:nvSpPr>
          <p:cNvPr id="6" name="Полилиния 5"/>
          <p:cNvSpPr/>
          <p:nvPr/>
        </p:nvSpPr>
        <p:spPr>
          <a:xfrm>
            <a:off x="5805377" y="2456121"/>
            <a:ext cx="1105786" cy="1073888"/>
          </a:xfrm>
          <a:custGeom>
            <a:avLst/>
            <a:gdLst>
              <a:gd name="connsiteX0" fmla="*/ 467832 w 1105786"/>
              <a:gd name="connsiteY0" fmla="*/ 53163 h 1073888"/>
              <a:gd name="connsiteX1" fmla="*/ 318976 w 1105786"/>
              <a:gd name="connsiteY1" fmla="*/ 74428 h 1073888"/>
              <a:gd name="connsiteX2" fmla="*/ 255181 w 1105786"/>
              <a:gd name="connsiteY2" fmla="*/ 95693 h 1073888"/>
              <a:gd name="connsiteX3" fmla="*/ 159488 w 1105786"/>
              <a:gd name="connsiteY3" fmla="*/ 148856 h 1073888"/>
              <a:gd name="connsiteX4" fmla="*/ 106325 w 1105786"/>
              <a:gd name="connsiteY4" fmla="*/ 212651 h 1073888"/>
              <a:gd name="connsiteX5" fmla="*/ 42530 w 1105786"/>
              <a:gd name="connsiteY5" fmla="*/ 287079 h 1073888"/>
              <a:gd name="connsiteX6" fmla="*/ 21265 w 1105786"/>
              <a:gd name="connsiteY6" fmla="*/ 329609 h 1073888"/>
              <a:gd name="connsiteX7" fmla="*/ 0 w 1105786"/>
              <a:gd name="connsiteY7" fmla="*/ 361507 h 1073888"/>
              <a:gd name="connsiteX8" fmla="*/ 10632 w 1105786"/>
              <a:gd name="connsiteY8" fmla="*/ 861237 h 1073888"/>
              <a:gd name="connsiteX9" fmla="*/ 31897 w 1105786"/>
              <a:gd name="connsiteY9" fmla="*/ 893135 h 1073888"/>
              <a:gd name="connsiteX10" fmla="*/ 116958 w 1105786"/>
              <a:gd name="connsiteY10" fmla="*/ 956930 h 1073888"/>
              <a:gd name="connsiteX11" fmla="*/ 180753 w 1105786"/>
              <a:gd name="connsiteY11" fmla="*/ 1020726 h 1073888"/>
              <a:gd name="connsiteX12" fmla="*/ 233916 w 1105786"/>
              <a:gd name="connsiteY12" fmla="*/ 1073888 h 1073888"/>
              <a:gd name="connsiteX13" fmla="*/ 744279 w 1105786"/>
              <a:gd name="connsiteY13" fmla="*/ 1052623 h 1073888"/>
              <a:gd name="connsiteX14" fmla="*/ 808074 w 1105786"/>
              <a:gd name="connsiteY14" fmla="*/ 1031358 h 1073888"/>
              <a:gd name="connsiteX15" fmla="*/ 893135 w 1105786"/>
              <a:gd name="connsiteY15" fmla="*/ 1010093 h 1073888"/>
              <a:gd name="connsiteX16" fmla="*/ 925032 w 1105786"/>
              <a:gd name="connsiteY16" fmla="*/ 999460 h 1073888"/>
              <a:gd name="connsiteX17" fmla="*/ 956930 w 1105786"/>
              <a:gd name="connsiteY17" fmla="*/ 978195 h 1073888"/>
              <a:gd name="connsiteX18" fmla="*/ 978195 w 1105786"/>
              <a:gd name="connsiteY18" fmla="*/ 946298 h 1073888"/>
              <a:gd name="connsiteX19" fmla="*/ 988828 w 1105786"/>
              <a:gd name="connsiteY19" fmla="*/ 914400 h 1073888"/>
              <a:gd name="connsiteX20" fmla="*/ 1020725 w 1105786"/>
              <a:gd name="connsiteY20" fmla="*/ 882502 h 1073888"/>
              <a:gd name="connsiteX21" fmla="*/ 1041990 w 1105786"/>
              <a:gd name="connsiteY21" fmla="*/ 839972 h 1073888"/>
              <a:gd name="connsiteX22" fmla="*/ 1063256 w 1105786"/>
              <a:gd name="connsiteY22" fmla="*/ 808074 h 1073888"/>
              <a:gd name="connsiteX23" fmla="*/ 1095153 w 1105786"/>
              <a:gd name="connsiteY23" fmla="*/ 712381 h 1073888"/>
              <a:gd name="connsiteX24" fmla="*/ 1105786 w 1105786"/>
              <a:gd name="connsiteY24" fmla="*/ 680484 h 1073888"/>
              <a:gd name="connsiteX25" fmla="*/ 1084521 w 1105786"/>
              <a:gd name="connsiteY25" fmla="*/ 308344 h 1073888"/>
              <a:gd name="connsiteX26" fmla="*/ 1063256 w 1105786"/>
              <a:gd name="connsiteY26" fmla="*/ 276446 h 1073888"/>
              <a:gd name="connsiteX27" fmla="*/ 1031358 w 1105786"/>
              <a:gd name="connsiteY27" fmla="*/ 191386 h 1073888"/>
              <a:gd name="connsiteX28" fmla="*/ 1020725 w 1105786"/>
              <a:gd name="connsiteY28" fmla="*/ 148856 h 1073888"/>
              <a:gd name="connsiteX29" fmla="*/ 967563 w 1105786"/>
              <a:gd name="connsiteY29" fmla="*/ 85060 h 1073888"/>
              <a:gd name="connsiteX30" fmla="*/ 925032 w 1105786"/>
              <a:gd name="connsiteY30" fmla="*/ 74428 h 1073888"/>
              <a:gd name="connsiteX31" fmla="*/ 850604 w 1105786"/>
              <a:gd name="connsiteY31" fmla="*/ 53163 h 1073888"/>
              <a:gd name="connsiteX32" fmla="*/ 542260 w 1105786"/>
              <a:gd name="connsiteY32" fmla="*/ 21265 h 1073888"/>
              <a:gd name="connsiteX33" fmla="*/ 499730 w 1105786"/>
              <a:gd name="connsiteY33" fmla="*/ 10632 h 1073888"/>
              <a:gd name="connsiteX34" fmla="*/ 435935 w 1105786"/>
              <a:gd name="connsiteY34" fmla="*/ 0 h 107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105786" h="1073888">
                <a:moveTo>
                  <a:pt x="467832" y="53163"/>
                </a:moveTo>
                <a:cubicBezTo>
                  <a:pt x="418213" y="60251"/>
                  <a:pt x="368125" y="64598"/>
                  <a:pt x="318976" y="74428"/>
                </a:cubicBezTo>
                <a:cubicBezTo>
                  <a:pt x="296996" y="78824"/>
                  <a:pt x="276446" y="88605"/>
                  <a:pt x="255181" y="95693"/>
                </a:cubicBezTo>
                <a:cubicBezTo>
                  <a:pt x="215070" y="109063"/>
                  <a:pt x="196048" y="112297"/>
                  <a:pt x="159488" y="148856"/>
                </a:cubicBezTo>
                <a:cubicBezTo>
                  <a:pt x="66316" y="242025"/>
                  <a:pt x="180325" y="123849"/>
                  <a:pt x="106325" y="212651"/>
                </a:cubicBezTo>
                <a:cubicBezTo>
                  <a:pt x="62832" y="264843"/>
                  <a:pt x="82348" y="223370"/>
                  <a:pt x="42530" y="287079"/>
                </a:cubicBezTo>
                <a:cubicBezTo>
                  <a:pt x="34129" y="300520"/>
                  <a:pt x="29129" y="315847"/>
                  <a:pt x="21265" y="329609"/>
                </a:cubicBezTo>
                <a:cubicBezTo>
                  <a:pt x="14925" y="340704"/>
                  <a:pt x="7088" y="350874"/>
                  <a:pt x="0" y="361507"/>
                </a:cubicBezTo>
                <a:cubicBezTo>
                  <a:pt x="3544" y="528084"/>
                  <a:pt x="653" y="694922"/>
                  <a:pt x="10632" y="861237"/>
                </a:cubicBezTo>
                <a:cubicBezTo>
                  <a:pt x="11397" y="873993"/>
                  <a:pt x="23914" y="883156"/>
                  <a:pt x="31897" y="893135"/>
                </a:cubicBezTo>
                <a:cubicBezTo>
                  <a:pt x="69620" y="940288"/>
                  <a:pt x="48939" y="888910"/>
                  <a:pt x="116958" y="956930"/>
                </a:cubicBezTo>
                <a:lnTo>
                  <a:pt x="180753" y="1020726"/>
                </a:lnTo>
                <a:cubicBezTo>
                  <a:pt x="190205" y="1049079"/>
                  <a:pt x="190121" y="1073888"/>
                  <a:pt x="233916" y="1073888"/>
                </a:cubicBezTo>
                <a:cubicBezTo>
                  <a:pt x="404185" y="1073888"/>
                  <a:pt x="574158" y="1059711"/>
                  <a:pt x="744279" y="1052623"/>
                </a:cubicBezTo>
                <a:cubicBezTo>
                  <a:pt x="765544" y="1045535"/>
                  <a:pt x="786521" y="1037516"/>
                  <a:pt x="808074" y="1031358"/>
                </a:cubicBezTo>
                <a:cubicBezTo>
                  <a:pt x="836176" y="1023329"/>
                  <a:pt x="864939" y="1017783"/>
                  <a:pt x="893135" y="1010093"/>
                </a:cubicBezTo>
                <a:cubicBezTo>
                  <a:pt x="903948" y="1007144"/>
                  <a:pt x="915008" y="1004472"/>
                  <a:pt x="925032" y="999460"/>
                </a:cubicBezTo>
                <a:cubicBezTo>
                  <a:pt x="936462" y="993745"/>
                  <a:pt x="946297" y="985283"/>
                  <a:pt x="956930" y="978195"/>
                </a:cubicBezTo>
                <a:cubicBezTo>
                  <a:pt x="964018" y="967563"/>
                  <a:pt x="972480" y="957727"/>
                  <a:pt x="978195" y="946298"/>
                </a:cubicBezTo>
                <a:cubicBezTo>
                  <a:pt x="983207" y="936273"/>
                  <a:pt x="982611" y="923726"/>
                  <a:pt x="988828" y="914400"/>
                </a:cubicBezTo>
                <a:cubicBezTo>
                  <a:pt x="997169" y="901889"/>
                  <a:pt x="1011985" y="894738"/>
                  <a:pt x="1020725" y="882502"/>
                </a:cubicBezTo>
                <a:cubicBezTo>
                  <a:pt x="1029938" y="869604"/>
                  <a:pt x="1034126" y="853734"/>
                  <a:pt x="1041990" y="839972"/>
                </a:cubicBezTo>
                <a:cubicBezTo>
                  <a:pt x="1048330" y="828877"/>
                  <a:pt x="1056167" y="818707"/>
                  <a:pt x="1063256" y="808074"/>
                </a:cubicBezTo>
                <a:lnTo>
                  <a:pt x="1095153" y="712381"/>
                </a:lnTo>
                <a:lnTo>
                  <a:pt x="1105786" y="680484"/>
                </a:lnTo>
                <a:cubicBezTo>
                  <a:pt x="1098698" y="556437"/>
                  <a:pt x="1097528" y="431910"/>
                  <a:pt x="1084521" y="308344"/>
                </a:cubicBezTo>
                <a:cubicBezTo>
                  <a:pt x="1083183" y="295635"/>
                  <a:pt x="1067743" y="288411"/>
                  <a:pt x="1063256" y="276446"/>
                </a:cubicBezTo>
                <a:cubicBezTo>
                  <a:pt x="1023839" y="171337"/>
                  <a:pt x="1081228" y="266193"/>
                  <a:pt x="1031358" y="191386"/>
                </a:cubicBezTo>
                <a:cubicBezTo>
                  <a:pt x="1027814" y="177209"/>
                  <a:pt x="1027260" y="161926"/>
                  <a:pt x="1020725" y="148856"/>
                </a:cubicBezTo>
                <a:cubicBezTo>
                  <a:pt x="1019578" y="146561"/>
                  <a:pt x="980560" y="91559"/>
                  <a:pt x="967563" y="85060"/>
                </a:cubicBezTo>
                <a:cubicBezTo>
                  <a:pt x="954493" y="78525"/>
                  <a:pt x="939130" y="78273"/>
                  <a:pt x="925032" y="74428"/>
                </a:cubicBezTo>
                <a:cubicBezTo>
                  <a:pt x="900139" y="67639"/>
                  <a:pt x="875082" y="61322"/>
                  <a:pt x="850604" y="53163"/>
                </a:cubicBezTo>
                <a:cubicBezTo>
                  <a:pt x="688176" y="-980"/>
                  <a:pt x="951314" y="38310"/>
                  <a:pt x="542260" y="21265"/>
                </a:cubicBezTo>
                <a:cubicBezTo>
                  <a:pt x="528083" y="17721"/>
                  <a:pt x="514059" y="13498"/>
                  <a:pt x="499730" y="10632"/>
                </a:cubicBezTo>
                <a:cubicBezTo>
                  <a:pt x="478590" y="6404"/>
                  <a:pt x="435935" y="0"/>
                  <a:pt x="435935" y="0"/>
                </a:cubicBezTo>
              </a:path>
            </a:pathLst>
          </a:cu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8524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dirty="0">
                <a:solidFill>
                  <a:schemeClr val="tx2"/>
                </a:solidFill>
              </a:rPr>
              <a:t>Местный вид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323528" y="1438052"/>
            <a:ext cx="417646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tx2"/>
                </a:solidFill>
              </a:rPr>
              <a:t>Местный вид:</a:t>
            </a:r>
          </a:p>
          <a:p>
            <a:endParaRPr lang="ru-RU" sz="2800" dirty="0">
              <a:solidFill>
                <a:schemeClr val="tx2"/>
              </a:solidFill>
            </a:endParaRPr>
          </a:p>
          <a:p>
            <a:r>
              <a:rPr lang="ru-RU" sz="2800" dirty="0">
                <a:solidFill>
                  <a:schemeClr val="tx2"/>
                </a:solidFill>
              </a:rPr>
              <a:t>изображение отдельной части поверхности предмета</a:t>
            </a:r>
            <a:endParaRPr lang="ru-RU" sz="2600" dirty="0">
              <a:solidFill>
                <a:schemeClr val="tx2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06"/>
          <a:stretch/>
        </p:blipFill>
        <p:spPr bwMode="auto">
          <a:xfrm>
            <a:off x="4139952" y="1307804"/>
            <a:ext cx="4684762" cy="3718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0723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dirty="0">
                <a:solidFill>
                  <a:schemeClr val="tx2"/>
                </a:solidFill>
              </a:rPr>
              <a:t>Местный вид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323528" y="1275606"/>
            <a:ext cx="846690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tx2"/>
                </a:solidFill>
              </a:rPr>
              <a:t>Местные виды: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961271"/>
            <a:ext cx="5514578" cy="2986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1395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dirty="0">
                <a:solidFill>
                  <a:schemeClr val="tx2"/>
                </a:solidFill>
              </a:rPr>
              <a:t>Дополнительный вид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323528" y="1275606"/>
            <a:ext cx="446449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tx2"/>
                </a:solidFill>
              </a:rPr>
              <a:t>Дополнительный вид: </a:t>
            </a:r>
          </a:p>
          <a:p>
            <a:r>
              <a:rPr lang="ru-RU" sz="2800" dirty="0">
                <a:solidFill>
                  <a:schemeClr val="tx2"/>
                </a:solidFill>
              </a:rPr>
              <a:t>изображение детали или ее части, полученное при проецировании на наклонную плоскость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95"/>
          <a:stretch/>
        </p:blipFill>
        <p:spPr bwMode="auto">
          <a:xfrm>
            <a:off x="4932040" y="1377811"/>
            <a:ext cx="3756929" cy="3363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0761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dirty="0"/>
              <a:t>РАЗРЕЗЫ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323528" y="1275606"/>
            <a:ext cx="388843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tx2"/>
                </a:solidFill>
              </a:rPr>
              <a:t>Разрез </a:t>
            </a:r>
            <a:r>
              <a:rPr lang="ru-RU" sz="2400" dirty="0">
                <a:solidFill>
                  <a:schemeClr val="tx2"/>
                </a:solidFill>
              </a:rPr>
              <a:t>- изображение предмета, мысленно рассеченного одной или несколькими плоскостями. </a:t>
            </a:r>
            <a:endParaRPr lang="en-US" sz="2400" dirty="0">
              <a:solidFill>
                <a:schemeClr val="tx2"/>
              </a:solidFill>
            </a:endParaRPr>
          </a:p>
          <a:p>
            <a:r>
              <a:rPr lang="ru-RU" sz="2400" b="1" dirty="0">
                <a:solidFill>
                  <a:schemeClr val="tx2"/>
                </a:solidFill>
              </a:rPr>
              <a:t>В разрезе изображается </a:t>
            </a:r>
            <a:r>
              <a:rPr lang="ru-RU" sz="2400" dirty="0">
                <a:solidFill>
                  <a:schemeClr val="tx2"/>
                </a:solidFill>
              </a:rPr>
              <a:t>то, что получается в секущей плоскости и то, что расположено за ней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763" y="1480427"/>
            <a:ext cx="4486997" cy="3187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90404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dirty="0"/>
              <a:t>сечения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323528" y="1275606"/>
            <a:ext cx="388843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tx2"/>
                </a:solidFill>
              </a:rPr>
              <a:t>Сечение - </a:t>
            </a:r>
            <a:r>
              <a:rPr lang="ru-RU" sz="2400" dirty="0">
                <a:solidFill>
                  <a:schemeClr val="tx2"/>
                </a:solidFill>
              </a:rPr>
              <a:t>изображение фигуры полученное при мысленном рассечении предмета плоскостью. В сечении </a:t>
            </a:r>
            <a:r>
              <a:rPr lang="ru-RU" sz="2400" b="1" dirty="0">
                <a:solidFill>
                  <a:schemeClr val="tx2"/>
                </a:solidFill>
              </a:rPr>
              <a:t>изображается только то, что попадает в секущую плоскость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8595" y="1707654"/>
            <a:ext cx="4582096" cy="2724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83533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600" dirty="0"/>
              <a:t>Координатный способ создания объекта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323528" y="1275606"/>
            <a:ext cx="417646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tx2"/>
                </a:solidFill>
              </a:rPr>
              <a:t>Координатный способ построения объекта – </a:t>
            </a:r>
            <a:r>
              <a:rPr lang="ru-RU" sz="2400" dirty="0">
                <a:solidFill>
                  <a:schemeClr val="tx2"/>
                </a:solidFill>
              </a:rPr>
              <a:t>это способ, при котором сначала задаются координаты точек (по осям), образующих видимые линии объекта, которые потом соединяются общим контуром. 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1419622"/>
            <a:ext cx="3168352" cy="34763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9199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E60A3F4-9949-400A-873C-161ABE393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910" y="2610964"/>
            <a:ext cx="4624782" cy="2226256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600" dirty="0"/>
              <a:t>Координатный способ создания объекта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323528" y="1275606"/>
            <a:ext cx="856895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tx2"/>
                </a:solidFill>
              </a:rPr>
              <a:t>При таком построении объекта необходимо пользоваться точками и вспомогательными линиями на панели инструментов «Геометрия»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840102" y="3549332"/>
            <a:ext cx="360041" cy="40758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483768" y="3216226"/>
            <a:ext cx="360040" cy="40758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Соединительная линия уступом 9"/>
          <p:cNvCxnSpPr>
            <a:cxnSpLocks/>
            <a:endCxn id="16" idx="0"/>
          </p:cNvCxnSpPr>
          <p:nvPr/>
        </p:nvCxnSpPr>
        <p:spPr>
          <a:xfrm>
            <a:off x="2843808" y="3420020"/>
            <a:ext cx="4074335" cy="944086"/>
          </a:xfrm>
          <a:prstGeom prst="bentConnector2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Соединительная линия уступом 12"/>
          <p:cNvCxnSpPr>
            <a:cxnSpLocks/>
          </p:cNvCxnSpPr>
          <p:nvPr/>
        </p:nvCxnSpPr>
        <p:spPr>
          <a:xfrm rot="16200000" flipH="1">
            <a:off x="1146138" y="3830907"/>
            <a:ext cx="864096" cy="1116124"/>
          </a:xfrm>
          <a:prstGeom prst="bentConnector2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170548" y="4731033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точка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43805" y="4364106"/>
            <a:ext cx="3948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вспомогательная линия</a:t>
            </a:r>
          </a:p>
        </p:txBody>
      </p:sp>
    </p:spTree>
    <p:extLst>
      <p:ext uri="{BB962C8B-B14F-4D97-AF65-F5344CB8AC3E}">
        <p14:creationId xmlns:p14="http://schemas.microsoft.com/office/powerpoint/2010/main" val="4116095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600" dirty="0"/>
              <a:t>Координатный способ создания объекта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323528" y="1275606"/>
            <a:ext cx="475252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tx2"/>
                </a:solidFill>
              </a:rPr>
              <a:t>Откройте «Компас» и создайте фрагмент. Задайте точки с координатами: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597549"/>
              </p:ext>
            </p:extLst>
          </p:nvPr>
        </p:nvGraphicFramePr>
        <p:xfrm>
          <a:off x="5292080" y="1419622"/>
          <a:ext cx="3400467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02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597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600" dirty="0"/>
              <a:t>Координатный способ создания объекта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323528" y="1275606"/>
            <a:ext cx="46805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2"/>
                </a:solidFill>
              </a:rPr>
              <a:t>1. Должен получится такой вид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737491"/>
            <a:ext cx="2618035" cy="3205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4788024" y="1277583"/>
            <a:ext cx="42484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2"/>
                </a:solidFill>
              </a:rPr>
              <a:t>2. Соедините точки линиями</a:t>
            </a:r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1705578"/>
            <a:ext cx="2980341" cy="3205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28319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600" dirty="0"/>
              <a:t>Координатный способ создания объекта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323528" y="1625144"/>
            <a:ext cx="424847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2"/>
                </a:solidFill>
              </a:rPr>
              <a:t>Если деталь симметричная, то достаточно одной половины детали, чтобы построить вторую. Для этого нам понадобятся вспомогательные линии.</a:t>
            </a:r>
          </a:p>
          <a:p>
            <a:endParaRPr lang="ru-RU" dirty="0">
              <a:solidFill>
                <a:schemeClr val="tx2"/>
              </a:solidFill>
            </a:endParaRPr>
          </a:p>
          <a:p>
            <a:r>
              <a:rPr lang="ru-RU" dirty="0">
                <a:solidFill>
                  <a:schemeClr val="tx2"/>
                </a:solidFill>
              </a:rPr>
              <a:t>Создайте новый фрагмент и постройте точки по заданным координатам:</a:t>
            </a: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556928"/>
              </p:ext>
            </p:extLst>
          </p:nvPr>
        </p:nvGraphicFramePr>
        <p:xfrm>
          <a:off x="5292080" y="1419622"/>
          <a:ext cx="3400467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02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32001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600" dirty="0"/>
              <a:t>Координатный способ создания объекта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323528" y="1625144"/>
            <a:ext cx="424847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2"/>
                </a:solidFill>
              </a:rPr>
              <a:t>Выберите инструмент «Отрезок» и проведите через 0 оси координат вертикальную ось симметрии штрих пунктирной линией:</a:t>
            </a: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1275606"/>
            <a:ext cx="3321965" cy="3651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93212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600" dirty="0"/>
              <a:t>Координатный способ создания объекта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323528" y="1625144"/>
            <a:ext cx="42484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2"/>
                </a:solidFill>
              </a:rPr>
              <a:t>Инструментом «Горизонтальные» и вспомогательные линии проведите линии через точки: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1419621"/>
            <a:ext cx="3637381" cy="3556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924110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600" dirty="0"/>
              <a:t>Координатный способ создания объекта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321973" y="1411908"/>
            <a:ext cx="424847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2"/>
                </a:solidFill>
              </a:rPr>
              <a:t>Мы создали точки и проекционные вспомогательные линии для построения левой части детали. </a:t>
            </a:r>
          </a:p>
          <a:p>
            <a:r>
              <a:rPr lang="ru-RU" sz="1600" dirty="0">
                <a:solidFill>
                  <a:schemeClr val="tx2"/>
                </a:solidFill>
              </a:rPr>
              <a:t>Теперь используя вспомогательный линии в режиме «Параллельные прямые» создайте вертикальные параллельные прямые слева и справа от оси симметрии проходящие через наши точки:</a:t>
            </a:r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9777" y="1411908"/>
            <a:ext cx="3258402" cy="3481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D85E36A-0D40-4161-A84A-A3349DA32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4002587"/>
            <a:ext cx="2991267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602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600" dirty="0"/>
              <a:t>Координатный способ создания объекта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321973" y="1411908"/>
            <a:ext cx="42484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2"/>
                </a:solidFill>
              </a:rPr>
              <a:t>Теперь соедините линии прямыми отрезками так, чтобы получился табурет. Стиль линии: «Основная»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2828" y="1275607"/>
            <a:ext cx="3167930" cy="3456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51333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Самостоятельная работа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321973" y="1411908"/>
            <a:ext cx="424847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tx2"/>
                </a:solidFill>
              </a:rPr>
              <a:t>Создайте главный вид произвольной  вазы через левую часть используя точки и вспомогательные линии.</a:t>
            </a:r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1511" y="1277888"/>
            <a:ext cx="2332780" cy="35981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361584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e3a9bf5dd0197b8f7215ccbc13daee8a4e56ced8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Аптека">
  <a:themeElements>
    <a:clrScheme name="Аптека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Аптека">
      <a:majorFont>
        <a:latin typeface="Book Antiqua"/>
        <a:ea typeface=""/>
        <a:cs typeface=""/>
        <a:font script="Jpan" typeface="HGS明朝B"/>
        <a:font script="Hang" typeface="HY견명조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견명조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Аптека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3000"/>
            <a:satMod val="14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atMod val="170000"/>
              </a:schemeClr>
              <a:schemeClr val="phClr">
                <a:shade val="70000"/>
                <a:satMod val="13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Apothecary</Template>
  <TotalTime>698</TotalTime>
  <Words>495</Words>
  <Application>Microsoft Office PowerPoint</Application>
  <PresentationFormat>Экран (16:9)</PresentationFormat>
  <Paragraphs>121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6" baseType="lpstr">
      <vt:lpstr>Arial</vt:lpstr>
      <vt:lpstr>Book Antiqua</vt:lpstr>
      <vt:lpstr>Century Gothic</vt:lpstr>
      <vt:lpstr>Аптека</vt:lpstr>
      <vt:lpstr>Вид в конструировании. Координатный способ построения объекта. </vt:lpstr>
      <vt:lpstr>Понятие вида</vt:lpstr>
      <vt:lpstr>Понятие вида</vt:lpstr>
      <vt:lpstr>Понятие вида</vt:lpstr>
      <vt:lpstr>Проекционная связь видов</vt:lpstr>
      <vt:lpstr>Понятие вида</vt:lpstr>
      <vt:lpstr>Понятие вида</vt:lpstr>
      <vt:lpstr>Местный вид</vt:lpstr>
      <vt:lpstr>Местный вид</vt:lpstr>
      <vt:lpstr>Дополнительный вид</vt:lpstr>
      <vt:lpstr>РАЗРЕЗЫ</vt:lpstr>
      <vt:lpstr>сечения</vt:lpstr>
      <vt:lpstr>Координатный способ создания объекта</vt:lpstr>
      <vt:lpstr>Координатный способ создания объекта</vt:lpstr>
      <vt:lpstr>Координатный способ создания объекта</vt:lpstr>
      <vt:lpstr>Координатный способ создания объекта</vt:lpstr>
      <vt:lpstr>Координатный способ создания объекта</vt:lpstr>
      <vt:lpstr>Координатный способ создания объекта</vt:lpstr>
      <vt:lpstr>Координатный способ создания объекта</vt:lpstr>
      <vt:lpstr>Координатный способ создания объекта</vt:lpstr>
      <vt:lpstr>Координатный способ создания объекта</vt:lpstr>
      <vt:lpstr>Самостоятельная работа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3D моделирование. Основные виды чертежей. Ортогональное проецирование. Компас-График. Интерфейс.</dc:title>
  <dc:creator>Pavel</dc:creator>
  <cp:lastModifiedBy>teacher</cp:lastModifiedBy>
  <cp:revision>85</cp:revision>
  <dcterms:created xsi:type="dcterms:W3CDTF">2023-09-03T19:26:56Z</dcterms:created>
  <dcterms:modified xsi:type="dcterms:W3CDTF">2026-09-16T14:50:06Z</dcterms:modified>
</cp:coreProperties>
</file>