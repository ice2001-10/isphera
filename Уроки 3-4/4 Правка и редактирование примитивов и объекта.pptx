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custDataLst>
    <p:tags r:id="rId19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42" d="100"/>
          <a:sy n="142" d="100"/>
        </p:scale>
        <p:origin x="71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76200"/>
            <a:ext cx="8961120" cy="499872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EE9C9-3041-4955-869C-75C3CD188D04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345441" y="2206952"/>
            <a:ext cx="7147931" cy="184785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572652" y="2208476"/>
            <a:ext cx="1190348" cy="1844802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12714" y="2352494"/>
            <a:ext cx="910224" cy="1556766"/>
          </a:xfrm>
          <a:prstGeom prst="rect">
            <a:avLst/>
          </a:prstGeom>
          <a:solidFill>
            <a:schemeClr val="accent3">
              <a:alpha val="7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45484" y="2291716"/>
            <a:ext cx="6947845" cy="168401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86826" y="3468951"/>
            <a:ext cx="762000" cy="342900"/>
          </a:xfrm>
        </p:spPr>
        <p:txBody>
          <a:bodyPr/>
          <a:lstStyle>
            <a:lvl1pPr algn="ctr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77BCFCC-4DD1-4338-98AD-2B0ABAC89CDE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Rectangle 10"/>
          <p:cNvSpPr/>
          <p:nvPr/>
        </p:nvSpPr>
        <p:spPr>
          <a:xfrm>
            <a:off x="541822" y="3419458"/>
            <a:ext cx="6755166" cy="498275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8971" y="2354580"/>
            <a:ext cx="6760868" cy="155829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805" y="3486150"/>
            <a:ext cx="6553200" cy="342900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spc="3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705" y="2420275"/>
            <a:ext cx="6629400" cy="914401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EE9C9-3041-4955-869C-75C3CD188D04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BCFCC-4DD1-4338-98AD-2B0ABAC89CD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76200"/>
            <a:ext cx="8961120" cy="499872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EE9C9-3041-4955-869C-75C3CD188D04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13" name="Rectangle 12"/>
          <p:cNvSpPr/>
          <p:nvPr/>
        </p:nvSpPr>
        <p:spPr>
          <a:xfrm>
            <a:off x="451976" y="2209800"/>
            <a:ext cx="8265160" cy="184785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67656" y="2286001"/>
            <a:ext cx="8033800" cy="168401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BCFCC-4DD1-4338-98AD-2B0ABAC89CDE}" type="slidenum">
              <a:rPr lang="ru-RU" smtClean="0"/>
              <a:t>‹#›</a:t>
            </a:fld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2400300"/>
            <a:ext cx="7696200" cy="971551"/>
          </a:xfrm>
        </p:spPr>
        <p:txBody>
          <a:bodyPr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000" kern="1200" cap="all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75496" y="3406141"/>
            <a:ext cx="7818120" cy="498275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3455633"/>
            <a:ext cx="7696200" cy="39283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758" y="2343150"/>
            <a:ext cx="7817599" cy="155829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306280"/>
            <a:ext cx="8260672" cy="77957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1289303"/>
            <a:ext cx="4038600" cy="330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89303"/>
            <a:ext cx="4038600" cy="330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EE9C9-3041-4955-869C-75C3CD188D04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BCFCC-4DD1-4338-98AD-2B0ABAC89CD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306280"/>
            <a:ext cx="8260672" cy="77957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128" y="1291828"/>
            <a:ext cx="4040188" cy="47982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128" y="1828800"/>
            <a:ext cx="4040188" cy="27658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91828"/>
            <a:ext cx="4041775" cy="47982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28800"/>
            <a:ext cx="4041775" cy="27658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EE9C9-3041-4955-869C-75C3CD188D04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BCFCC-4DD1-4338-98AD-2B0ABAC89CD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EE9C9-3041-4955-869C-75C3CD188D04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BCFCC-4DD1-4338-98AD-2B0ABAC89CD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ounded Rectangle 10"/>
          <p:cNvSpPr/>
          <p:nvPr/>
        </p:nvSpPr>
        <p:spPr>
          <a:xfrm>
            <a:off x="91440" y="76200"/>
            <a:ext cx="8961120" cy="499872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EE9C9-3041-4955-869C-75C3CD188D04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BCFCC-4DD1-4338-98AD-2B0ABAC89CD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ounded Rectangle 11"/>
          <p:cNvSpPr/>
          <p:nvPr/>
        </p:nvSpPr>
        <p:spPr>
          <a:xfrm>
            <a:off x="91440" y="76200"/>
            <a:ext cx="8961120" cy="499872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514350"/>
            <a:ext cx="4572000" cy="39433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EE9C9-3041-4955-869C-75C3CD188D04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BCFCC-4DD1-4338-98AD-2B0ABAC89CDE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560034" y="1129284"/>
            <a:ext cx="2716566" cy="2642616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6690" y="1231854"/>
            <a:ext cx="2483254" cy="2425746"/>
          </a:xfrm>
          <a:prstGeom prst="rect">
            <a:avLst/>
          </a:prstGeom>
          <a:solidFill>
            <a:srgbClr val="FFFFFF"/>
          </a:solidFill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000" y="2228850"/>
            <a:ext cx="2298634" cy="1314450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000" y="1300734"/>
            <a:ext cx="2298634" cy="893715"/>
          </a:xfrm>
        </p:spPr>
        <p:txBody>
          <a:bodyPr anchor="b">
            <a:normAutofit/>
          </a:bodyPr>
          <a:lstStyle>
            <a:lvl1pPr algn="l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91440" y="76200"/>
            <a:ext cx="8961120" cy="499872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466078"/>
            <a:ext cx="7772400" cy="3248673"/>
          </a:xfr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EE9C9-3041-4955-869C-75C3CD188D04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BCFCC-4DD1-4338-98AD-2B0ABAC89CDE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Rectangle 9"/>
          <p:cNvSpPr/>
          <p:nvPr/>
        </p:nvSpPr>
        <p:spPr>
          <a:xfrm>
            <a:off x="685800" y="3714750"/>
            <a:ext cx="7772400" cy="10287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2000" y="3771900"/>
            <a:ext cx="7600765" cy="902193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Rectangle 12"/>
          <p:cNvSpPr/>
          <p:nvPr/>
        </p:nvSpPr>
        <p:spPr>
          <a:xfrm>
            <a:off x="914400" y="4229100"/>
            <a:ext cx="7328514" cy="338772"/>
          </a:xfrm>
          <a:prstGeom prst="rect">
            <a:avLst/>
          </a:prstGeom>
          <a:solidFill>
            <a:schemeClr val="accent1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5589" y="3806190"/>
            <a:ext cx="7946136" cy="822960"/>
          </a:xfrm>
          <a:prstGeom prst="rect">
            <a:avLst/>
          </a:prstGeom>
          <a:noFill/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289" y="4242418"/>
            <a:ext cx="7244736" cy="3012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29051"/>
            <a:ext cx="7328514" cy="392282"/>
          </a:xfrm>
        </p:spPr>
        <p:txBody>
          <a:bodyPr anchor="ctr" anchorCtr="0"/>
          <a:lstStyle>
            <a:lvl1pPr algn="ctr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EE9C9-3041-4955-869C-75C3CD188D04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BCFCC-4DD1-4338-98AD-2B0ABAC89CD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61702" y="171450"/>
            <a:ext cx="1859280" cy="4591976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5226" y="263557"/>
            <a:ext cx="1672235" cy="4407763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8578" y="296571"/>
            <a:ext cx="1485531" cy="4341736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85750"/>
            <a:ext cx="6172200" cy="43434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EE9C9-3041-4955-869C-75C3CD188D04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BCFCC-4DD1-4338-98AD-2B0ABAC89CD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91440" y="76200"/>
            <a:ext cx="8961120" cy="499872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14451"/>
            <a:ext cx="8229600" cy="3280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995EE9C9-3041-4955-869C-75C3CD188D04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277BCFCC-4DD1-4338-98AD-2B0ABAC89CDE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274320" y="208625"/>
            <a:ext cx="8595360" cy="99441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2863" y="279647"/>
            <a:ext cx="8380520" cy="838940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128" y="306280"/>
            <a:ext cx="8260672" cy="779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5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432141" y="3507854"/>
            <a:ext cx="4732148" cy="342900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ru-RU" dirty="0"/>
              <a:t>7-8 урок Опорная работа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1800" dirty="0"/>
              <a:t>Правка и редактирование примитивов и объекта. </a:t>
            </a: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323528" y="267494"/>
            <a:ext cx="8496944" cy="1152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800" kern="1200" cap="all" spc="3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333333"/>
                </a:solidFill>
              </a:rPr>
              <a:t>3</a:t>
            </a:r>
            <a:r>
              <a:rPr lang="en-US" dirty="0">
                <a:solidFill>
                  <a:srgbClr val="333333"/>
                </a:solidFill>
              </a:rPr>
              <a:t>d </a:t>
            </a:r>
            <a:r>
              <a:rPr lang="ru-RU" dirty="0">
                <a:solidFill>
                  <a:srgbClr val="333333"/>
                </a:solidFill>
              </a:rPr>
              <a:t>моделирование</a:t>
            </a:r>
          </a:p>
        </p:txBody>
      </p:sp>
      <p:sp>
        <p:nvSpPr>
          <p:cNvPr id="6" name="Подзаголовок 2"/>
          <p:cNvSpPr txBox="1">
            <a:spLocks/>
          </p:cNvSpPr>
          <p:nvPr/>
        </p:nvSpPr>
        <p:spPr>
          <a:xfrm>
            <a:off x="683568" y="3507854"/>
            <a:ext cx="3497147" cy="3429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800" kern="1200" cap="all" spc="3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/>
              <a:t>3</a:t>
            </a:r>
            <a:r>
              <a:rPr lang="ru-RU"/>
              <a:t> </a:t>
            </a:r>
            <a:r>
              <a:rPr lang="ru-RU" dirty="0"/>
              <a:t>четверть</a:t>
            </a:r>
          </a:p>
        </p:txBody>
      </p:sp>
      <p:sp>
        <p:nvSpPr>
          <p:cNvPr id="7" name="Подзаголовок 2"/>
          <p:cNvSpPr txBox="1">
            <a:spLocks/>
          </p:cNvSpPr>
          <p:nvPr/>
        </p:nvSpPr>
        <p:spPr>
          <a:xfrm>
            <a:off x="7668344" y="2737783"/>
            <a:ext cx="936104" cy="1152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800" kern="1200" cap="all" spc="3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200" dirty="0">
                <a:solidFill>
                  <a:srgbClr val="333333"/>
                </a:solidFill>
              </a:rPr>
              <a:t>ИНФОСТАРТ 2</a:t>
            </a:r>
          </a:p>
        </p:txBody>
      </p:sp>
    </p:spTree>
    <p:extLst>
      <p:ext uri="{BB962C8B-B14F-4D97-AF65-F5344CB8AC3E}">
        <p14:creationId xmlns:p14="http://schemas.microsoft.com/office/powerpoint/2010/main" val="3418008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dirty="0"/>
              <a:t>Правка и редактирование примитивов и объекта.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251520" y="1920732"/>
            <a:ext cx="7992888" cy="2779737"/>
          </a:xfrm>
        </p:spPr>
        <p:txBody>
          <a:bodyPr>
            <a:normAutofit fontScale="47500" lnSpcReduction="20000"/>
          </a:bodyPr>
          <a:lstStyle/>
          <a:p>
            <a:pPr marL="114300" indent="0">
              <a:buNone/>
            </a:pPr>
            <a:r>
              <a:rPr lang="ru-RU" sz="3800" b="1" i="1" dirty="0"/>
              <a:t>В этом уроке:</a:t>
            </a:r>
            <a:endParaRPr lang="ru-RU" sz="3800" i="1" dirty="0"/>
          </a:p>
          <a:p>
            <a:r>
              <a:rPr lang="ru-RU" sz="3800" i="1" dirty="0"/>
              <a:t>Сдвиг по углу и расстоянию.</a:t>
            </a:r>
          </a:p>
          <a:p>
            <a:r>
              <a:rPr lang="ru-RU" sz="3800" i="1" dirty="0"/>
              <a:t>Поворот</a:t>
            </a:r>
          </a:p>
          <a:p>
            <a:r>
              <a:rPr lang="ru-RU" sz="3800" i="1" dirty="0"/>
              <a:t>Масштабирование</a:t>
            </a:r>
          </a:p>
          <a:p>
            <a:r>
              <a:rPr lang="ru-RU" sz="3800" i="1" dirty="0"/>
              <a:t>Симметрия</a:t>
            </a:r>
          </a:p>
          <a:p>
            <a:r>
              <a:rPr lang="ru-RU" sz="3800" i="1" dirty="0"/>
              <a:t>Копирование</a:t>
            </a:r>
          </a:p>
          <a:p>
            <a:r>
              <a:rPr lang="ru-RU" sz="3800" i="1" dirty="0"/>
              <a:t>Деформация</a:t>
            </a:r>
          </a:p>
          <a:p>
            <a:r>
              <a:rPr lang="ru-RU" sz="3800" i="1" dirty="0"/>
              <a:t>Усечь кривую</a:t>
            </a:r>
          </a:p>
          <a:p>
            <a:r>
              <a:rPr lang="ru-RU" sz="3800" i="1" dirty="0"/>
              <a:t>Удлинить до ближайшего объекта</a:t>
            </a:r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C916C07-FC8F-40EE-987B-D7B0D9A3B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200" y="2499742"/>
            <a:ext cx="4062280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45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Сдвиг выделенных объектов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26128" y="1289303"/>
            <a:ext cx="2417680" cy="3305556"/>
          </a:xfrm>
        </p:spPr>
        <p:txBody>
          <a:bodyPr>
            <a:normAutofit fontScale="70000" lnSpcReduction="20000"/>
          </a:bodyPr>
          <a:lstStyle/>
          <a:p>
            <a:pPr marL="114300" indent="0">
              <a:buNone/>
            </a:pPr>
            <a:r>
              <a:rPr lang="ru-RU" dirty="0"/>
              <a:t>Создайте окружность диаметром 30 мм.</a:t>
            </a:r>
            <a:r>
              <a:rPr lang="en-US" dirty="0"/>
              <a:t> </a:t>
            </a:r>
            <a:r>
              <a:rPr lang="ru-RU" dirty="0"/>
              <a:t>Включите кнопку копировать и настройте сдвиг по осям </a:t>
            </a:r>
            <a:r>
              <a:rPr lang="en-US" dirty="0"/>
              <a:t> X </a:t>
            </a:r>
            <a:r>
              <a:rPr lang="ru-RU" dirty="0"/>
              <a:t>и</a:t>
            </a:r>
            <a:r>
              <a:rPr lang="en-US" dirty="0"/>
              <a:t> Y – </a:t>
            </a:r>
            <a:r>
              <a:rPr lang="ru-RU" dirty="0"/>
              <a:t>сначала 20 и 2, затем 40 и 10.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556214C-0F01-4BEE-98BA-ADB4CB2A9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1452042"/>
            <a:ext cx="5811156" cy="3385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197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>
            <a:spLocks/>
          </p:cNvSpPr>
          <p:nvPr/>
        </p:nvSpPr>
        <p:spPr>
          <a:xfrm>
            <a:off x="572049" y="339502"/>
            <a:ext cx="8260672" cy="779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500" kern="1200" cap="all" baseline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Поворот на угол</a:t>
            </a:r>
          </a:p>
        </p:txBody>
      </p:sp>
      <p:sp>
        <p:nvSpPr>
          <p:cNvPr id="10" name="Объект 2"/>
          <p:cNvSpPr>
            <a:spLocks noGrp="1"/>
          </p:cNvSpPr>
          <p:nvPr>
            <p:ph sz="half" idx="1"/>
          </p:nvPr>
        </p:nvSpPr>
        <p:spPr>
          <a:xfrm>
            <a:off x="426128" y="1289303"/>
            <a:ext cx="8609570" cy="1400868"/>
          </a:xfrm>
        </p:spPr>
        <p:txBody>
          <a:bodyPr>
            <a:normAutofit fontScale="85000" lnSpcReduction="10000"/>
          </a:bodyPr>
          <a:lstStyle/>
          <a:p>
            <a:pPr marL="628650" lvl="0" indent="-514350">
              <a:buFont typeface="+mj-lt"/>
              <a:buAutoNum type="arabicPeriod"/>
            </a:pPr>
            <a:r>
              <a:rPr lang="ru-RU" dirty="0"/>
              <a:t>Выделите все окружности.</a:t>
            </a:r>
          </a:p>
          <a:p>
            <a:pPr marL="628650" lvl="0" indent="-514350">
              <a:buFont typeface="+mj-lt"/>
              <a:buAutoNum type="arabicPeriod"/>
            </a:pPr>
            <a:r>
              <a:rPr lang="ru-RU" dirty="0"/>
              <a:t>Отключите «Сохранять оригинал»</a:t>
            </a:r>
          </a:p>
          <a:p>
            <a:pPr marL="628650" lvl="0" indent="-514350">
              <a:buFont typeface="+mj-lt"/>
              <a:buAutoNum type="arabicPeriod"/>
            </a:pPr>
            <a:r>
              <a:rPr lang="ru-RU" dirty="0"/>
              <a:t>Включите кнопку «Поворот на угол» и укажите 90.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3A189B7-8A21-4608-A0E2-5EE93BDB3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84" y="2571750"/>
            <a:ext cx="3888432" cy="240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443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масштабирование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26128" y="1289303"/>
            <a:ext cx="3972908" cy="3305556"/>
          </a:xfrm>
        </p:spPr>
        <p:txBody>
          <a:bodyPr>
            <a:normAutofit/>
          </a:bodyPr>
          <a:lstStyle/>
          <a:p>
            <a:pPr marL="628650" indent="-514350">
              <a:buAutoNum type="arabicPeriod"/>
            </a:pPr>
            <a:r>
              <a:rPr lang="ru-RU" sz="2400" dirty="0"/>
              <a:t>Выделить объект.</a:t>
            </a:r>
          </a:p>
          <a:p>
            <a:pPr marL="628650" indent="-514350">
              <a:buAutoNum type="arabicPeriod"/>
            </a:pPr>
            <a:r>
              <a:rPr lang="ru-RU" sz="2400" dirty="0"/>
              <a:t>Указать масштаб.</a:t>
            </a:r>
          </a:p>
          <a:p>
            <a:pPr marL="628650" indent="-514350">
              <a:buAutoNum type="arabicPeriod"/>
            </a:pPr>
            <a:r>
              <a:rPr lang="ru-RU" sz="2400" dirty="0"/>
              <a:t>Кликнуть на объект еще раз.</a:t>
            </a:r>
          </a:p>
          <a:p>
            <a:pPr marL="628650" indent="-514350">
              <a:buAutoNum type="arabicPeriod"/>
            </a:pPr>
            <a:r>
              <a:rPr lang="ru-RU" sz="2400" dirty="0"/>
              <a:t>Задайте масштаб для средней окружности 1,2, а для нижней: 1,5.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E80C0B6-35B3-4F37-8D49-7AF316C68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52" y="1492756"/>
            <a:ext cx="4876624" cy="330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605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симметрия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26127" y="1289303"/>
            <a:ext cx="3779071" cy="3305556"/>
          </a:xfrm>
        </p:spPr>
        <p:txBody>
          <a:bodyPr>
            <a:normAutofit fontScale="92500" lnSpcReduction="10000"/>
          </a:bodyPr>
          <a:lstStyle/>
          <a:p>
            <a:pPr marL="628650" indent="-514350">
              <a:buAutoNum type="arabicPeriod"/>
            </a:pPr>
            <a:r>
              <a:rPr lang="ru-RU" sz="2400" dirty="0"/>
              <a:t>Выделите все 3 окружности.</a:t>
            </a:r>
          </a:p>
          <a:p>
            <a:pPr marL="628650" indent="-514350">
              <a:buAutoNum type="arabicPeriod"/>
            </a:pPr>
            <a:r>
              <a:rPr lang="ru-RU" sz="2400" dirty="0"/>
              <a:t>Указать точку, вокруг которой будет производиться симметричное копирование объекта.</a:t>
            </a:r>
          </a:p>
          <a:p>
            <a:pPr marL="628650" indent="-514350">
              <a:buAutoNum type="arabicPeriod"/>
            </a:pPr>
            <a:r>
              <a:rPr lang="ru-RU" sz="2400" dirty="0"/>
              <a:t>Доверните до вертикали.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CBE7055-D866-4BC4-B70C-B215A1148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464" y="1203598"/>
            <a:ext cx="3828768" cy="3867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399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Усечение кривой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26127" y="1289303"/>
            <a:ext cx="3779071" cy="3305556"/>
          </a:xfrm>
        </p:spPr>
        <p:txBody>
          <a:bodyPr>
            <a:normAutofit lnSpcReduction="10000"/>
          </a:bodyPr>
          <a:lstStyle/>
          <a:p>
            <a:pPr marL="628650" indent="-514350">
              <a:buAutoNum type="arabicPeriod"/>
            </a:pPr>
            <a:r>
              <a:rPr lang="ru-RU" sz="2400" dirty="0"/>
              <a:t>Кривая усекается до пересечения с ближайшей кривой или точкой.</a:t>
            </a:r>
          </a:p>
          <a:p>
            <a:pPr marL="628650" indent="-514350">
              <a:buAutoNum type="arabicPeriod"/>
            </a:pPr>
            <a:r>
              <a:rPr lang="ru-RU" sz="2400" dirty="0"/>
              <a:t>Удалите внутренние линии, чтобы остался только внешний контур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35BF81B-15FA-45F5-BF0F-40E30006D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6" y="1383539"/>
            <a:ext cx="3607551" cy="321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637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Заливка цветом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26127" y="1289303"/>
            <a:ext cx="3779071" cy="3305556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ru-RU" sz="2400" dirty="0"/>
              <a:t>Через заливку цветом задайте цвет получившегося объекта зеленым и дорисуйте коричневый ствол, чтобы получилось дерево.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B703FBE-83DE-4FC2-A892-6AD1CE494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252" y="1419622"/>
            <a:ext cx="3524742" cy="164805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8C71F1A-052B-41FF-A4BA-342F4E71C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495" y="3067677"/>
            <a:ext cx="2304256" cy="19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387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Усечь кривую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7" r="14435"/>
          <a:stretch/>
        </p:blipFill>
        <p:spPr bwMode="auto">
          <a:xfrm>
            <a:off x="2216204" y="1203598"/>
            <a:ext cx="4680520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8872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Копия по окружности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26127" y="1289303"/>
            <a:ext cx="3779071" cy="3305556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ru-RU" sz="2400" dirty="0"/>
              <a:t>Задайте «Копия по окружности» 11 копий и укажите центр копирования на вершине ствола.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0917F66-648C-496D-86B4-55760701B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048" y="1514280"/>
            <a:ext cx="2763064" cy="308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007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Копия по окружности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26127" y="1289303"/>
            <a:ext cx="3779071" cy="3305556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ru-RU" sz="2400" dirty="0"/>
              <a:t>Закрасьте получившиеся звезды в красный цвет.</a:t>
            </a:r>
          </a:p>
          <a:p>
            <a:pPr marL="114300" indent="0">
              <a:buNone/>
            </a:pPr>
            <a:endParaRPr lang="ru-RU" sz="2400" dirty="0"/>
          </a:p>
          <a:p>
            <a:pPr marL="114300" indent="0">
              <a:buNone/>
            </a:pPr>
            <a:r>
              <a:rPr lang="ru-RU" sz="2400" dirty="0"/>
              <a:t>Получился логотип.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1546174"/>
            <a:ext cx="3009900" cy="3128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4605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Копия по окружности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26127" y="1289303"/>
            <a:ext cx="3779071" cy="3305556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ru-RU" sz="2400" dirty="0"/>
              <a:t>Самостоятельно создайте ромашку, используя команду редактирования «Копия по окружности» где центр вращения будет в середине желтого круга.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0863" y="1419622"/>
            <a:ext cx="3672408" cy="3351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9053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53B713D-461D-4EF5-81B6-C225F8E00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830" y="3776914"/>
            <a:ext cx="2991267" cy="77163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Копия по сетке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26127" y="1289303"/>
            <a:ext cx="3779071" cy="3305556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ru-RU" sz="2400" dirty="0"/>
              <a:t>Выберите на той-же кнопке «Копия по сетке»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96"/>
          <a:stretch/>
        </p:blipFill>
        <p:spPr bwMode="auto">
          <a:xfrm>
            <a:off x="6228184" y="1779662"/>
            <a:ext cx="2494721" cy="2741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Прямая со стрелкой 5"/>
          <p:cNvCxnSpPr>
            <a:cxnSpLocks/>
          </p:cNvCxnSpPr>
          <p:nvPr/>
        </p:nvCxnSpPr>
        <p:spPr>
          <a:xfrm>
            <a:off x="1835696" y="2283718"/>
            <a:ext cx="2088232" cy="1879012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3471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Копия по сетке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26127" y="1289303"/>
            <a:ext cx="3779071" cy="3305556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ru-RU" sz="2400" dirty="0"/>
              <a:t>«Параметры» настройте таким образом, чтобы шаг копирования был больше чем сам объект на несколько миллиметров. Он </a:t>
            </a:r>
            <a:r>
              <a:rPr lang="ru-RU" sz="2400" dirty="0" err="1"/>
              <a:t>отмеряется</a:t>
            </a:r>
            <a:r>
              <a:rPr lang="ru-RU" sz="2400" dirty="0"/>
              <a:t> от центра объекта</a:t>
            </a:r>
          </a:p>
        </p:txBody>
      </p:sp>
      <p:cxnSp>
        <p:nvCxnSpPr>
          <p:cNvPr id="6" name="Прямая со стрелкой 5"/>
          <p:cNvCxnSpPr/>
          <p:nvPr/>
        </p:nvCxnSpPr>
        <p:spPr>
          <a:xfrm>
            <a:off x="3779912" y="1563638"/>
            <a:ext cx="1152128" cy="2664296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49F3FBC-4262-4CA5-9DFB-893A77A36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64" y="1131590"/>
            <a:ext cx="1654780" cy="401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270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Копия по сетке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26127" y="1289303"/>
            <a:ext cx="3779071" cy="3305556"/>
          </a:xfrm>
        </p:spPr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ru-RU" sz="2400" dirty="0"/>
              <a:t>Подобным образом можно копировать любые повторяющиеся объекты. К примеру:</a:t>
            </a:r>
          </a:p>
          <a:p>
            <a:pPr marL="114300" indent="0">
              <a:buNone/>
            </a:pPr>
            <a:r>
              <a:rPr lang="ru-RU" sz="2400" dirty="0"/>
              <a:t>Окна домов, доски забора, узоры на обоях и прочее. Полученный объем одинаковых элементов называется «Массив»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275605"/>
            <a:ext cx="3646736" cy="354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0329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массивов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26127" y="1289303"/>
            <a:ext cx="8368673" cy="49035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ru-RU" sz="2000" dirty="0"/>
              <a:t>Давайте вместе создадим деталь с массивами отверстий.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160" y="2643758"/>
            <a:ext cx="1984686" cy="16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Объект 2"/>
          <p:cNvSpPr>
            <a:spLocks noGrp="1"/>
          </p:cNvSpPr>
          <p:nvPr>
            <p:ph sz="half" idx="1"/>
          </p:nvPr>
        </p:nvSpPr>
        <p:spPr>
          <a:xfrm>
            <a:off x="621161" y="2062098"/>
            <a:ext cx="1915636" cy="581659"/>
          </a:xfrm>
        </p:spPr>
        <p:txBody>
          <a:bodyPr>
            <a:normAutofit fontScale="40000" lnSpcReduction="20000"/>
          </a:bodyPr>
          <a:lstStyle/>
          <a:p>
            <a:pPr marL="114300" indent="0">
              <a:buNone/>
            </a:pPr>
            <a:r>
              <a:rPr lang="ru-RU" sz="2000" dirty="0"/>
              <a:t>1. создайте 2 взаимно перпендикулярные прямые для обозначения центра фигуры. Малую окружность  создайте с осями.</a:t>
            </a:r>
          </a:p>
        </p:txBody>
      </p:sp>
      <p:sp>
        <p:nvSpPr>
          <p:cNvPr id="8" name="Объект 2"/>
          <p:cNvSpPr>
            <a:spLocks noGrp="1"/>
          </p:cNvSpPr>
          <p:nvPr>
            <p:ph sz="half" idx="1"/>
          </p:nvPr>
        </p:nvSpPr>
        <p:spPr>
          <a:xfrm>
            <a:off x="2699792" y="2062099"/>
            <a:ext cx="1915636" cy="581659"/>
          </a:xfrm>
        </p:spPr>
        <p:txBody>
          <a:bodyPr>
            <a:normAutofit fontScale="47500" lnSpcReduction="20000"/>
          </a:bodyPr>
          <a:lstStyle/>
          <a:p>
            <a:pPr marL="114300" indent="0">
              <a:buNone/>
            </a:pPr>
            <a:r>
              <a:rPr lang="ru-RU" sz="2000" dirty="0"/>
              <a:t>2. Скопируйте 2 окружности в количестве  10  штук относительно центра</a:t>
            </a:r>
          </a:p>
        </p:txBody>
      </p:sp>
      <p:sp>
        <p:nvSpPr>
          <p:cNvPr id="10" name="Объект 2"/>
          <p:cNvSpPr>
            <a:spLocks noGrp="1"/>
          </p:cNvSpPr>
          <p:nvPr>
            <p:ph sz="half" idx="1"/>
          </p:nvPr>
        </p:nvSpPr>
        <p:spPr>
          <a:xfrm>
            <a:off x="4716016" y="2062099"/>
            <a:ext cx="1915636" cy="581659"/>
          </a:xfrm>
        </p:spPr>
        <p:txBody>
          <a:bodyPr>
            <a:normAutofit fontScale="62500" lnSpcReduction="20000"/>
          </a:bodyPr>
          <a:lstStyle/>
          <a:p>
            <a:pPr marL="114300" indent="0">
              <a:buNone/>
            </a:pPr>
            <a:r>
              <a:rPr lang="ru-RU" sz="2000" dirty="0"/>
              <a:t>3. Сделайте усечение ненужных кривых</a:t>
            </a:r>
          </a:p>
        </p:txBody>
      </p:sp>
      <p:sp>
        <p:nvSpPr>
          <p:cNvPr id="13" name="Объект 2"/>
          <p:cNvSpPr>
            <a:spLocks noGrp="1"/>
          </p:cNvSpPr>
          <p:nvPr>
            <p:ph sz="half" idx="1"/>
          </p:nvPr>
        </p:nvSpPr>
        <p:spPr>
          <a:xfrm>
            <a:off x="6732240" y="2062234"/>
            <a:ext cx="1915636" cy="58165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ru-RU" sz="1300" dirty="0"/>
              <a:t>4. Проставьте размеры</a:t>
            </a:r>
          </a:p>
        </p:txBody>
      </p:sp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2662273"/>
            <a:ext cx="1631039" cy="16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6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2672984"/>
            <a:ext cx="1633893" cy="16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7" name="Picture 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2672984"/>
            <a:ext cx="1992645" cy="16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685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Опорная работа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26127" y="1289303"/>
            <a:ext cx="4145873" cy="337067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ru-RU" sz="4000" dirty="0"/>
              <a:t>Выполните чертеж с указанием размеров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1347614"/>
            <a:ext cx="3910119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51961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c961bec5cff8dcc852b5236dd7d365474d8a3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Аптека">
  <a:themeElements>
    <a:clrScheme name="Аптека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Аптека">
      <a:majorFont>
        <a:latin typeface="Book Antiqua"/>
        <a:ea typeface=""/>
        <a:cs typeface=""/>
        <a:font script="Jpan" typeface="HGS明朝B"/>
        <a:font script="Hang" typeface="HY견명조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견명조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Аптека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3000"/>
            <a:satMod val="14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atMod val="170000"/>
              </a:schemeClr>
              <a:schemeClr val="phClr">
                <a:shade val="70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Apothecary</Template>
  <TotalTime>956</TotalTime>
  <Words>374</Words>
  <Application>Microsoft Office PowerPoint</Application>
  <PresentationFormat>Экран (16:9)</PresentationFormat>
  <Paragraphs>59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Book Antiqua</vt:lpstr>
      <vt:lpstr>Century Gothic</vt:lpstr>
      <vt:lpstr>Аптека</vt:lpstr>
      <vt:lpstr>Правка и редактирование примитивов и объекта. </vt:lpstr>
      <vt:lpstr>Правка и редактирование примитивов и объекта.</vt:lpstr>
      <vt:lpstr>Сдвиг выделенных объектов</vt:lpstr>
      <vt:lpstr>Презентация PowerPoint</vt:lpstr>
      <vt:lpstr>масштабирование</vt:lpstr>
      <vt:lpstr>симметрия</vt:lpstr>
      <vt:lpstr>Усечение кривой</vt:lpstr>
      <vt:lpstr>Заливка цветом</vt:lpstr>
      <vt:lpstr>Усечь кривую</vt:lpstr>
      <vt:lpstr>Копия по окружности</vt:lpstr>
      <vt:lpstr>Копия по окружности</vt:lpstr>
      <vt:lpstr>Копия по окружности</vt:lpstr>
      <vt:lpstr>Копия по сетке</vt:lpstr>
      <vt:lpstr>Копия по сетке</vt:lpstr>
      <vt:lpstr>Копия по сетке</vt:lpstr>
      <vt:lpstr>Применение массивов</vt:lpstr>
      <vt:lpstr>Опорная работа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3D моделирование. Основные виды чертежей. Ортогональное проецирование. Компас-График. Интерфейс.</dc:title>
  <dc:creator>Pavel</dc:creator>
  <cp:lastModifiedBy>teacher</cp:lastModifiedBy>
  <cp:revision>115</cp:revision>
  <dcterms:created xsi:type="dcterms:W3CDTF">2023-09-03T19:26:56Z</dcterms:created>
  <dcterms:modified xsi:type="dcterms:W3CDTF">2026-09-16T15:54:27Z</dcterms:modified>
</cp:coreProperties>
</file>